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UAV-based Traffic &amp; Pedestrian Monitoring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Onderzoeksvragen Analyse</a:t>
            </a:r>
          </a:p>
          <a:p>
            <a:r>
              <a:t>569 Papers (2001-2026)</a:t>
            </a:r>
          </a:p>
          <a:p/>
          <a:p>
            <a:r>
              <a:t>Davy Janssens</a:t>
            </a:r>
          </a:p>
          <a:p>
            <a:r>
              <a:t>Maart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Dataset Overzicht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Totaal aantal papers: 569</a:t>
            </a:r>
          </a:p>
          <a:p>
            <a:pPr>
              <a:defRPr sz="1800"/>
            </a:pPr>
            <a:r>
              <a:t>• Tijdsperiode: 2001-2026</a:t>
            </a:r>
          </a:p>
          <a:p>
            <a:pPr>
              <a:defRPr sz="1800"/>
            </a:pPr>
            <a:r>
              <a:t>• Hoofdthema's:</a:t>
            </a:r>
          </a:p>
          <a:p>
            <a:pPr>
              <a:defRPr sz="1800"/>
            </a:pPr>
            <a:r>
              <a:t>  - UAV-based detection &amp; tracking</a:t>
            </a:r>
          </a:p>
          <a:p>
            <a:pPr>
              <a:defRPr sz="1800"/>
            </a:pPr>
            <a:r>
              <a:t>  - Parking monitoring</a:t>
            </a:r>
          </a:p>
          <a:p>
            <a:pPr>
              <a:defRPr sz="1800"/>
            </a:pPr>
            <a:r>
              <a:t>  - Pedestrian analysis</a:t>
            </a:r>
          </a:p>
          <a:p>
            <a:pPr>
              <a:defRPr sz="1800"/>
            </a:pPr>
            <a:r>
              <a:t>  - Traffic flow &amp; congestion</a:t>
            </a:r>
          </a:p>
          <a:p>
            <a:pPr>
              <a:defRPr sz="1800"/>
            </a:pPr>
            <a:r>
              <a:t>  - Deep learning methodologieën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1️⃣ METHODOLOGISCH</a:t>
            </a:r>
          </a:p>
          <a:p>
            <a:r>
              <a:t>Deep Learning &amp; Algoritmes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Object Detection Architecturen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Centrale vraag:</a:t>
            </a:r>
          </a:p>
          <a:p>
            <a:pPr>
              <a:defRPr sz="1800"/>
            </a:pPr>
            <a:r>
              <a:t>Welke deep learning architecturen zijn het meest geschikt voor UAV-based object detection?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bevindingen:</a:t>
            </a:r>
          </a:p>
          <a:p>
            <a:pPr>
              <a:defRPr sz="1800"/>
            </a:pPr>
            <a:r>
              <a:t>• 35+ papers over YOLO-implementaties</a:t>
            </a:r>
          </a:p>
          <a:p>
            <a:pPr>
              <a:defRPr sz="1800"/>
            </a:pPr>
            <a:r>
              <a:t>• YOLOv8 en YOLOv10 met knowledge distillation: beste real-time prestaties</a:t>
            </a:r>
          </a:p>
          <a:p>
            <a:pPr>
              <a:defRPr sz="1800"/>
            </a:pPr>
            <a:r>
              <a:t>• SSD: sneller maar minder accuraat bij kleine objecten</a:t>
            </a:r>
          </a:p>
          <a:p>
            <a:pPr>
              <a:defRPr sz="1800"/>
            </a:pPr>
            <a:r>
              <a:t>• Lightweight models (MobileNet): geschikt voor edge devices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Multi-Scale Feature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Centrale vraag:</a:t>
            </a:r>
          </a:p>
          <a:p>
            <a:pPr>
              <a:defRPr sz="1800"/>
            </a:pPr>
            <a:r>
              <a:t>Hoe kunnen multi-scale features optimaal worden gefuseerd voor kleine object detectie?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Deelvragen:</a:t>
            </a:r>
          </a:p>
          <a:p>
            <a:pPr>
              <a:defRPr sz="1800"/>
            </a:pPr>
            <a:r>
              <a:t>• Welke feature pyramid architecturen werken het best?</a:t>
            </a:r>
          </a:p>
          <a:p>
            <a:pPr>
              <a:defRPr sz="1800"/>
            </a:pPr>
            <a:r>
              <a:t>• Hoe kunnen attention mechanisms detectie verbeteren?</a:t>
            </a:r>
          </a:p>
          <a:p>
            <a:pPr>
              <a:defRPr sz="1800"/>
            </a:pPr>
            <a:r>
              <a:t>  - Spatial attention</a:t>
            </a:r>
          </a:p>
          <a:p>
            <a:pPr>
              <a:defRPr sz="1800"/>
            </a:pPr>
            <a:r>
              <a:t>  - Channel attention</a:t>
            </a:r>
          </a:p>
          <a:p>
            <a:pPr>
              <a:defRPr sz="1800"/>
            </a:pPr>
            <a:r>
              <a:t>• Optimale receptive field sizes voor verschillende vlieghoogtes?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Tracking Algoritmes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Centrale vraag:</a:t>
            </a:r>
          </a:p>
          <a:p>
            <a:pPr>
              <a:defRPr sz="1800"/>
            </a:pPr>
            <a:r>
              <a:t>Welke tracking methoden zijn robuust genoeg voor bewegende camera platforms?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Vergelijking:</a:t>
            </a:r>
          </a:p>
          <a:p>
            <a:pPr>
              <a:defRPr sz="1800"/>
            </a:pPr>
            <a:r>
              <a:t>• SORT: Basis tracking</a:t>
            </a:r>
          </a:p>
          <a:p>
            <a:pPr>
              <a:defRPr sz="1800"/>
            </a:pPr>
            <a:r>
              <a:t>• DeepSORT: Met appearance features</a:t>
            </a:r>
          </a:p>
          <a:p>
            <a:pPr>
              <a:defRPr sz="1800"/>
            </a:pPr>
            <a:r>
              <a:t>• ByteTrack: State-of-the-art voor UAV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Uitdagingen:</a:t>
            </a:r>
          </a:p>
          <a:p>
            <a:pPr>
              <a:defRPr sz="1800"/>
            </a:pPr>
            <a:r>
              <a:t>• Camera motion compensation</a:t>
            </a:r>
          </a:p>
          <a:p>
            <a:pPr>
              <a:defRPr sz="1800"/>
            </a:pPr>
            <a:r>
              <a:t>• Occlusion handling</a:t>
            </a:r>
          </a:p>
          <a:p>
            <a:pPr>
              <a:defRPr sz="1800"/>
            </a:pPr>
            <a:r>
              <a:t>• Trajectory-based methods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2️⃣ TECHNISCH</a:t>
            </a:r>
          </a:p>
          <a:p>
            <a:r>
              <a:t>Real-time Processing &amp; Hardware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Real-time Verwerking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Centrale vraag:</a:t>
            </a:r>
          </a:p>
          <a:p>
            <a:pPr>
              <a:defRPr sz="1800"/>
            </a:pPr>
            <a:r>
              <a:t>Wat zijn de bottlenecks voor real-time UAV video processing?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Bevindingen uit papers:</a:t>
            </a:r>
          </a:p>
          <a:p>
            <a:pPr>
              <a:defRPr sz="1800"/>
            </a:pPr>
            <a:r>
              <a:t>• Minimale frame rate:</a:t>
            </a:r>
          </a:p>
          <a:p>
            <a:pPr>
              <a:defRPr sz="1800"/>
            </a:pPr>
            <a:r>
              <a:t>  - 1/3 Hz voor visuele interpretatie</a:t>
            </a:r>
          </a:p>
          <a:p>
            <a:pPr>
              <a:defRPr sz="1800"/>
            </a:pPr>
            <a:r>
              <a:t>  - 3+ Hz voor automatische tracking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NVIDIA Jetson TX2: 4K real-time processing mogelijk</a:t>
            </a:r>
          </a:p>
          <a:p>
            <a:pPr>
              <a:defRPr sz="1800"/>
            </a:pPr>
            <a:r>
              <a:t>• CPU + GPU parallel: latency verbergen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Edge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Centrale vraag:</a:t>
            </a:r>
          </a:p>
          <a:p>
            <a:pPr>
              <a:defRPr sz="1800"/>
            </a:pPr>
            <a:r>
              <a:t>Kunnen UAVs autonome on-board processing uitvoeren?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Embedded platforms:</a:t>
            </a:r>
          </a:p>
          <a:p>
            <a:pPr>
              <a:defRPr sz="1800"/>
            </a:pPr>
            <a:r>
              <a:t>• NVIDIA Jetson (TX2, Nano, Orin)</a:t>
            </a:r>
          </a:p>
          <a:p>
            <a:pPr>
              <a:defRPr sz="1800"/>
            </a:pPr>
            <a:r>
              <a:t>• Google Coral TPU</a:t>
            </a:r>
          </a:p>
          <a:p>
            <a:pPr>
              <a:defRPr sz="1800"/>
            </a:pPr>
            <a:r>
              <a:t>• Intel Neural Compute Stick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Optimalisatie technieken:</a:t>
            </a:r>
          </a:p>
          <a:p>
            <a:pPr>
              <a:defRPr sz="1800"/>
            </a:pPr>
            <a:r>
              <a:t>• Model compression (pruning, quantization)</a:t>
            </a:r>
          </a:p>
          <a:p>
            <a:pPr>
              <a:defRPr sz="1800"/>
            </a:pPr>
            <a:r>
              <a:t>• Battery constraints vs computational capabilities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Image Registration &amp; Stabilization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Centrale vraag:</a:t>
            </a:r>
          </a:p>
          <a:p>
            <a:pPr>
              <a:defRPr sz="1800"/>
            </a:pPr>
            <a:r>
              <a:t>Hoe kan camera motion worden gecompenseerd voor accurate metingen?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Technieken:</a:t>
            </a:r>
          </a:p>
          <a:p>
            <a:pPr>
              <a:defRPr sz="1800"/>
            </a:pPr>
            <a:r>
              <a:t>• SIFT: Scale-Invariant Feature Transform</a:t>
            </a:r>
          </a:p>
          <a:p>
            <a:pPr>
              <a:defRPr sz="1800"/>
            </a:pPr>
            <a:r>
              <a:t>• SURF: Speeded-Up Robust Features</a:t>
            </a:r>
          </a:p>
          <a:p>
            <a:pPr>
              <a:defRPr sz="1800"/>
            </a:pPr>
            <a:r>
              <a:t>• Optical flow</a:t>
            </a:r>
          </a:p>
          <a:p>
            <a:pPr>
              <a:defRPr sz="1800"/>
            </a:pPr>
            <a:r>
              <a:t>• Homography estimation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Toepassing:</a:t>
            </a:r>
          </a:p>
          <a:p>
            <a:pPr>
              <a:defRPr sz="1800"/>
            </a:pPr>
            <a:r>
              <a:t>• Speed estimation zonder constante drone snelheid</a:t>
            </a:r>
          </a:p>
          <a:p>
            <a:pPr>
              <a:defRPr sz="1800"/>
            </a:pPr>
            <a:r>
              <a:t>• World coordinate transformation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3️⃣ TOEPASSING</a:t>
            </a:r>
          </a:p>
          <a:p>
            <a:r>
              <a:t>Use 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Parking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Centrale vraag:</a:t>
            </a:r>
          </a:p>
          <a:p>
            <a:pPr>
              <a:defRPr sz="1800"/>
            </a:pPr>
            <a:r>
              <a:t>Hoe kunnen UAVs parking occupancy monitoring revolutioneren?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Bevindingen:</a:t>
            </a:r>
          </a:p>
          <a:p>
            <a:pPr>
              <a:defRPr sz="1800"/>
            </a:pPr>
            <a:r>
              <a:t>• Optimale vlieghoogte: ~50m</a:t>
            </a:r>
          </a:p>
          <a:p>
            <a:pPr>
              <a:defRPr sz="1800"/>
            </a:pPr>
            <a:r>
              <a:t>  - Balans tussen coverage en resolutie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License plate recognition mogelijk (ALPR)</a:t>
            </a:r>
          </a:p>
          <a:p>
            <a:pPr>
              <a:defRPr sz="1800"/>
            </a:pPr>
            <a:r>
              <a:t>• Route optimization via TSP voor meerdere parking lots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Papers: 10 papers over parking detection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Pedestrian Behavior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Centrale vraag:</a:t>
            </a:r>
          </a:p>
          <a:p>
            <a:pPr>
              <a:defRPr sz="1800"/>
            </a:pPr>
            <a:r>
              <a:t>Welke inzichten kunnen UAVs bieden over voetgangersgedrag?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Toepassingen:</a:t>
            </a:r>
          </a:p>
          <a:p>
            <a:pPr>
              <a:defRPr sz="1800"/>
            </a:pPr>
            <a:r>
              <a:t>• Walking speed metingen op street-scale</a:t>
            </a:r>
          </a:p>
          <a:p>
            <a:pPr>
              <a:defRPr sz="1800"/>
            </a:pPr>
            <a:r>
              <a:t>  - YOLOv5 + DeepSORT + geometric correction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Pedestrian flow patterns op shopping streets</a:t>
            </a:r>
          </a:p>
          <a:p>
            <a:pPr>
              <a:defRPr sz="1800"/>
            </a:pPr>
            <a:r>
              <a:t>• Pedestrian-vehicle conflict detection</a:t>
            </a:r>
          </a:p>
          <a:p>
            <a:pPr>
              <a:defRPr sz="1800"/>
            </a:pPr>
            <a:r>
              <a:t>  - Surrogate safety measures (TTC, PET)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Papers: 124 papers over pedestrian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Traffic Flow &amp; Congestion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Centrale vraag:</a:t>
            </a:r>
          </a:p>
          <a:p>
            <a:pPr>
              <a:defRPr sz="1800"/>
            </a:pPr>
            <a:r>
              <a:t>Hoe effectief zijn UAVs voor traffic monitoring vs traditionele methoden?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Meetbare parameters:</a:t>
            </a:r>
          </a:p>
          <a:p>
            <a:pPr>
              <a:defRPr sz="1800"/>
            </a:pPr>
            <a:r>
              <a:t>• Volume (vehicle counting)</a:t>
            </a:r>
          </a:p>
          <a:p>
            <a:pPr>
              <a:defRPr sz="1800"/>
            </a:pPr>
            <a:r>
              <a:t>• Speed (snelheidsmetingen)</a:t>
            </a:r>
          </a:p>
          <a:p>
            <a:pPr>
              <a:defRPr sz="1800"/>
            </a:pPr>
            <a:r>
              <a:t>• Density (voertuigdichtheid)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Geavanceerde analyses:</a:t>
            </a:r>
          </a:p>
          <a:p>
            <a:pPr>
              <a:defRPr sz="1800"/>
            </a:pPr>
            <a:r>
              <a:t>• Origin-destination matrices</a:t>
            </a:r>
          </a:p>
          <a:p>
            <a:pPr>
              <a:defRPr sz="1800"/>
            </a:pPr>
            <a:r>
              <a:t>• Traffic violation detection</a:t>
            </a:r>
          </a:p>
          <a:p>
            <a:pPr>
              <a:defRPr sz="1800"/>
            </a:pPr>
            <a:r>
              <a:t>  - Illegal lane changes, double parking, crosswalk obstructions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3.4 Roundabout &amp; Intersection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Centrale vraag:</a:t>
            </a:r>
          </a:p>
          <a:p>
            <a:pPr>
              <a:defRPr sz="1800"/>
            </a:pPr>
            <a:r>
              <a:t>Wat is de meerwaarde van UAVs voor complexe verkeerssituaties?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openDD Dataset (Breuer et al., 2020):</a:t>
            </a:r>
          </a:p>
          <a:p>
            <a:pPr>
              <a:defRPr sz="1800"/>
            </a:pPr>
            <a:r>
              <a:t>• 84,774 nauwkeurig getrackte trajectories</a:t>
            </a:r>
          </a:p>
          <a:p>
            <a:pPr>
              <a:defRPr sz="1800"/>
            </a:pPr>
            <a:r>
              <a:t>• 7 verschillende rotondes</a:t>
            </a:r>
          </a:p>
          <a:p>
            <a:pPr>
              <a:defRPr sz="1800"/>
            </a:pPr>
            <a:r>
              <a:t>• 62 uur aan trajectory data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Analyses:</a:t>
            </a:r>
          </a:p>
          <a:p>
            <a:pPr>
              <a:defRPr sz="1800"/>
            </a:pPr>
            <a:r>
              <a:t>• Traffic conflict identification</a:t>
            </a:r>
          </a:p>
          <a:p>
            <a:pPr>
              <a:defRPr sz="1800"/>
            </a:pPr>
            <a:r>
              <a:t>• Interaction patterns tussen weggebruikers</a:t>
            </a:r>
          </a:p>
          <a:p>
            <a:pPr>
              <a:defRPr sz="1800"/>
            </a:pPr>
            <a:r>
              <a:t>• Yielding behavior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4️⃣ ECONOMISCH &amp; PRAKTISCH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Cost-Benefit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Centrale vraag:</a:t>
            </a:r>
          </a:p>
          <a:p>
            <a:pPr>
              <a:defRPr sz="1800"/>
            </a:pPr>
            <a:r>
              <a:t>Wat is de economische haalbaarheid van UAV-based monitoring?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Bevindingen (Jairus et al., 2025):</a:t>
            </a:r>
          </a:p>
          <a:p>
            <a:pPr>
              <a:defRPr sz="1800"/>
            </a:pPr>
            <a:r>
              <a:t>• 60-80% kostenreductie vs traditionele methoden</a:t>
            </a:r>
          </a:p>
          <a:p>
            <a:pPr>
              <a:defRPr sz="1800"/>
            </a:pPr>
            <a:r>
              <a:t>• 8-point density threshold voor viability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Impact operational intensity:</a:t>
            </a:r>
          </a:p>
          <a:p>
            <a:pPr>
              <a:defRPr sz="1800"/>
            </a:pPr>
            <a:r>
              <a:t>• 30 dagen/jaar: 9.0% viability</a:t>
            </a:r>
          </a:p>
          <a:p>
            <a:pPr>
              <a:defRPr sz="1800"/>
            </a:pPr>
            <a:r>
              <a:t>• 180 dagen/jaar: 81.6% viability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Conclusie: Economisch voordelig voor 67% van urban areas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Deployment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Centrale vraag:</a:t>
            </a:r>
          </a:p>
          <a:p>
            <a:pPr>
              <a:defRPr sz="1800"/>
            </a:pPr>
            <a:r>
              <a:t>Hoe kunnen UAV-systemen op grote schaal worden ingezet?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Uitdagingen:</a:t>
            </a:r>
          </a:p>
          <a:p>
            <a:pPr>
              <a:defRPr sz="1800"/>
            </a:pPr>
            <a:r>
              <a:t>• Regelgeving in urban areas</a:t>
            </a:r>
          </a:p>
          <a:p>
            <a:pPr>
              <a:defRPr sz="1800"/>
            </a:pPr>
            <a:r>
              <a:t>• Privacy implications van aerial surveillance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Enablers:</a:t>
            </a:r>
          </a:p>
          <a:p>
            <a:pPr>
              <a:defRPr sz="1800"/>
            </a:pPr>
            <a:r>
              <a:t>• 5G/nomadic networks voor UAV operations</a:t>
            </a:r>
          </a:p>
          <a:p>
            <a:pPr>
              <a:defRPr sz="1800"/>
            </a:pPr>
            <a:r>
              <a:t>• Cellular connectivity voor real-time data streaming</a:t>
            </a:r>
          </a:p>
          <a:p>
            <a:pPr>
              <a:defRPr sz="1800"/>
            </a:pPr>
            <a:r>
              <a:t>• Cloud processing voor heavy computations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Data Quality &amp;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Centrale vraag:</a:t>
            </a:r>
          </a:p>
          <a:p>
            <a:pPr>
              <a:defRPr sz="1800"/>
            </a:pPr>
            <a:r>
              <a:t>Hoe accuraat zijn UAV-metingen vergeleken met ground truth?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Detection accuracy:</a:t>
            </a:r>
          </a:p>
          <a:p>
            <a:pPr>
              <a:defRPr sz="1800"/>
            </a:pPr>
            <a:r>
              <a:t>• 95-100% detection rates haalbaar</a:t>
            </a:r>
          </a:p>
          <a:p>
            <a:pPr>
              <a:defRPr sz="1800"/>
            </a:pPr>
            <a:r>
              <a:t>  - Vehicles, cyclists, pedestrians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Variatie factoren:</a:t>
            </a:r>
          </a:p>
          <a:p>
            <a:pPr>
              <a:defRPr sz="1800"/>
            </a:pPr>
            <a:r>
              <a:t>• Weersomstandigheden (day/night, rain, fog)</a:t>
            </a:r>
          </a:p>
          <a:p>
            <a:pPr>
              <a:defRPr sz="1800"/>
            </a:pPr>
            <a:r>
              <a:t>• Altitude en viewing angle</a:t>
            </a:r>
          </a:p>
          <a:p>
            <a:pPr>
              <a:defRPr sz="1800"/>
            </a:pPr>
            <a:r>
              <a:t>• Object size en occlusion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5️⃣ DATA &amp; DATASETS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5.1 Beschikbare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Belangrijkste datasets: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VisDrone2019: Urban traffic, vehicles &amp; pedestrians</a:t>
            </a:r>
          </a:p>
          <a:p>
            <a:pPr>
              <a:defRPr sz="1800"/>
            </a:pPr>
            <a:r>
              <a:t>• UAVDT: UAV detection and tracking</a:t>
            </a:r>
          </a:p>
          <a:p>
            <a:pPr>
              <a:defRPr sz="1800"/>
            </a:pPr>
            <a:r>
              <a:t>• CARPK: 90,000 cars in parking lots</a:t>
            </a:r>
          </a:p>
          <a:p>
            <a:pPr>
              <a:defRPr sz="1800"/>
            </a:pPr>
            <a:r>
              <a:t>• openDD: 84,774 trajectories in roundabouts</a:t>
            </a:r>
          </a:p>
          <a:p>
            <a:pPr>
              <a:defRPr sz="1800"/>
            </a:pPr>
            <a:r>
              <a:t>• UA-DETRAC: Urban road environments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Papers: 32 papers over datasets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5.2 Dataset Gaps &amp; Synthetic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Ondervertegenwoordigd:</a:t>
            </a:r>
          </a:p>
          <a:p>
            <a:pPr>
              <a:defRPr sz="1800"/>
            </a:pPr>
            <a:r>
              <a:t>• Extreme weather conditions</a:t>
            </a:r>
          </a:p>
          <a:p>
            <a:pPr>
              <a:defRPr sz="1800"/>
            </a:pPr>
            <a:r>
              <a:t>• Night-time scenarios</a:t>
            </a:r>
          </a:p>
          <a:p>
            <a:pPr>
              <a:defRPr sz="1800"/>
            </a:pPr>
            <a:r>
              <a:t>• Multi-modal interactions</a:t>
            </a:r>
          </a:p>
          <a:p>
            <a:pPr>
              <a:defRPr sz="1800"/>
            </a:pPr>
            <a:r>
              <a:t>• Long-term temporal patterns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Synthetic datasets:</a:t>
            </a:r>
          </a:p>
          <a:p>
            <a:pPr>
              <a:defRPr sz="1800"/>
            </a:pPr>
            <a:r>
              <a:t>• AirSim (Microsoft)</a:t>
            </a:r>
          </a:p>
          <a:p>
            <a:pPr>
              <a:defRPr sz="1800"/>
            </a:pPr>
            <a:r>
              <a:t>• Unreal Engine simulations</a:t>
            </a:r>
          </a:p>
          <a:p>
            <a:pPr>
              <a:defRPr sz="1800"/>
            </a:pPr>
            <a:r>
              <a:t>• Data augmentation strategies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6️⃣ MULTI-MODAL &amp; SENSOR FUSION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6.1 Thermal vs RGB Imaging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Centrale vraag:</a:t>
            </a:r>
          </a:p>
          <a:p>
            <a:pPr>
              <a:defRPr sz="1800"/>
            </a:pPr>
            <a:r>
              <a:t>Wanneer is thermal imaging superieur aan RGB?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Thermal voordelen:</a:t>
            </a:r>
          </a:p>
          <a:p>
            <a:pPr>
              <a:defRPr sz="1800"/>
            </a:pPr>
            <a:r>
              <a:t>• Night-time pedestrian detection</a:t>
            </a:r>
          </a:p>
          <a:p>
            <a:pPr>
              <a:defRPr sz="1800"/>
            </a:pPr>
            <a:r>
              <a:t>• Prominent thermal signature van mensen</a:t>
            </a:r>
          </a:p>
          <a:p>
            <a:pPr>
              <a:defRPr sz="1800"/>
            </a:pPr>
            <a:r>
              <a:t>• Werkt bij slechte verlichting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RGB + Thermal fusion:</a:t>
            </a:r>
          </a:p>
          <a:p>
            <a:pPr>
              <a:defRPr sz="1800"/>
            </a:pPr>
            <a:r>
              <a:t>• Betere accuracy door complementaire informatie</a:t>
            </a:r>
          </a:p>
          <a:p>
            <a:pPr>
              <a:defRPr sz="1800"/>
            </a:pPr>
            <a:r>
              <a:t>• Trade-off: sensor cost vs performance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6.2 Multi-Sensor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Centrale vraag:</a:t>
            </a:r>
          </a:p>
          <a:p>
            <a:pPr>
              <a:defRPr sz="1800"/>
            </a:pPr>
            <a:r>
              <a:t>Hoe kunnen verschillende sensoren worden gecombineerd?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Sensor combinaties:</a:t>
            </a:r>
          </a:p>
          <a:p>
            <a:pPr>
              <a:defRPr sz="1800"/>
            </a:pPr>
            <a:r>
              <a:t>• LiDAR + Camera: 3D trajectory reconstruction</a:t>
            </a:r>
          </a:p>
          <a:p>
            <a:pPr>
              <a:defRPr sz="1800"/>
            </a:pPr>
            <a:r>
              <a:t>• GPS/IMU: Image registration ondersteuning</a:t>
            </a:r>
          </a:p>
          <a:p>
            <a:pPr>
              <a:defRPr sz="1800"/>
            </a:pPr>
            <a:r>
              <a:t>• Hyperspectral: Geavanceerde traffic analysis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Voordelen:</a:t>
            </a:r>
          </a:p>
          <a:p>
            <a:pPr>
              <a:defRPr sz="1800"/>
            </a:pPr>
            <a:r>
              <a:t>• Robustere detectie</a:t>
            </a:r>
          </a:p>
          <a:p>
            <a:pPr>
              <a:defRPr sz="1800"/>
            </a:pPr>
            <a:r>
              <a:t>• Betere accuracy</a:t>
            </a:r>
          </a:p>
          <a:p>
            <a:pPr>
              <a:defRPr sz="1800"/>
            </a:pPr>
            <a:r>
              <a:t>• Redundantie bij sensor failure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7️⃣ EMERGING TRENDS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7.1 Swarm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Centrale vraag:</a:t>
            </a:r>
          </a:p>
          <a:p>
            <a:pPr>
              <a:defRPr sz="1800"/>
            </a:pPr>
            <a:r>
              <a:t>Kunnen drone swarms collaborative monitoring uitvoeren?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Mogelijkheden:</a:t>
            </a:r>
          </a:p>
          <a:p>
            <a:pPr>
              <a:defRPr sz="1800"/>
            </a:pPr>
            <a:r>
              <a:t>• Coverage optimalisatie door meerdere UAVs</a:t>
            </a:r>
          </a:p>
          <a:p>
            <a:pPr>
              <a:defRPr sz="1800"/>
            </a:pPr>
            <a:r>
              <a:t>• Occlusion oplossen via multi-view fusion</a:t>
            </a:r>
          </a:p>
          <a:p>
            <a:pPr>
              <a:defRPr sz="1800"/>
            </a:pPr>
            <a:r>
              <a:t>• Distributed processing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Uitdagingen:</a:t>
            </a:r>
          </a:p>
          <a:p>
            <a:pPr>
              <a:defRPr sz="1800"/>
            </a:pPr>
            <a:r>
              <a:t>• Communicatie requirements</a:t>
            </a:r>
          </a:p>
          <a:p>
            <a:pPr>
              <a:defRPr sz="1800"/>
            </a:pPr>
            <a:r>
              <a:t>• Swarm coordination algoritmes</a:t>
            </a:r>
          </a:p>
          <a:p>
            <a:pPr>
              <a:defRPr sz="1800"/>
            </a:pPr>
            <a:r>
              <a:t>• Collision avoidance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7.2 Predictive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Centrale vraag:</a:t>
            </a:r>
          </a:p>
          <a:p>
            <a:pPr>
              <a:defRPr sz="1800"/>
            </a:pPr>
            <a:r>
              <a:t>Kunnen UAV-data worden gebruikt voor traffic prediction?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Technieken:</a:t>
            </a:r>
          </a:p>
          <a:p>
            <a:pPr>
              <a:defRPr sz="1800"/>
            </a:pPr>
            <a:r>
              <a:t>• LSTM/Transformer models voor trajectory forecasting</a:t>
            </a:r>
          </a:p>
          <a:p>
            <a:pPr>
              <a:defRPr sz="1800"/>
            </a:pPr>
            <a:r>
              <a:t>• Congestion pattern prediction uit historical data</a:t>
            </a:r>
          </a:p>
          <a:p>
            <a:pPr>
              <a:defRPr sz="1800"/>
            </a:pPr>
            <a:r>
              <a:t>• Digital twin development voor smart cities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Toepassingen:</a:t>
            </a:r>
          </a:p>
          <a:p>
            <a:pPr>
              <a:defRPr sz="1800"/>
            </a:pPr>
            <a:r>
              <a:t>• Proactive traffic management</a:t>
            </a:r>
          </a:p>
          <a:p>
            <a:pPr>
              <a:defRPr sz="1800"/>
            </a:pPr>
            <a:r>
              <a:t>• Incident prediction</a:t>
            </a:r>
          </a:p>
          <a:p>
            <a:pPr>
              <a:defRPr sz="1800"/>
            </a:pPr>
            <a:r>
              <a:t>• Route optimization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7.3 Autonomous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Centrale vraag:</a:t>
            </a:r>
          </a:p>
          <a:p>
            <a:pPr>
              <a:defRPr sz="1800"/>
            </a:pPr>
            <a:r>
              <a:t>Hoe autonoom kunnen UAV monitoring systemen worden?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Autonomie levels:</a:t>
            </a:r>
          </a:p>
          <a:p>
            <a:pPr>
              <a:defRPr sz="1800"/>
            </a:pPr>
            <a:r>
              <a:t>• Event detection: Automatisch interessante events detecteren</a:t>
            </a:r>
          </a:p>
          <a:p>
            <a:pPr>
              <a:defRPr sz="1800"/>
            </a:pPr>
            <a:r>
              <a:t>• Adaptive focus: Zelfstandig op events focussen</a:t>
            </a:r>
          </a:p>
          <a:p>
            <a:pPr>
              <a:defRPr sz="1800"/>
            </a:pPr>
            <a:r>
              <a:t>• Path planning: Reinforcement learning voor optimal routes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Safety implications:</a:t>
            </a:r>
          </a:p>
          <a:p>
            <a:pPr>
              <a:defRPr sz="1800"/>
            </a:pPr>
            <a:r>
              <a:t>• Fully autonomous operations in urban areas</a:t>
            </a:r>
          </a:p>
          <a:p>
            <a:pPr>
              <a:defRPr sz="1800"/>
            </a:pPr>
            <a:r>
              <a:t>• Fail-safe mechanisms</a:t>
            </a:r>
          </a:p>
          <a:p>
            <a:pPr>
              <a:defRPr sz="1800"/>
            </a:pPr>
            <a:r>
              <a:t>• Human-in-the-loop vs full autonomy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🔑 RESEARCH GAPS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Belangrijkste Gaps in Huidig Onderzoek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METHODOLOGISCH:</a:t>
            </a:r>
          </a:p>
          <a:p>
            <a:pPr>
              <a:spcBef>
                <a:spcPts val="600"/>
              </a:spcBef>
              <a:defRPr sz="1400"/>
            </a:pPr>
            <a:r>
              <a:t>• Cross-domain generalization</a:t>
            </a:r>
          </a:p>
          <a:p>
            <a:pPr>
              <a:spcBef>
                <a:spcPts val="600"/>
              </a:spcBef>
              <a:defRPr sz="1400"/>
            </a:pPr>
            <a:r>
              <a:t>• Extreme weather performance</a:t>
            </a:r>
          </a:p>
          <a:p>
            <a:pPr>
              <a:spcBef>
                <a:spcPts val="600"/>
              </a:spcBef>
              <a:defRPr sz="1400"/>
            </a:pPr>
            <a:r>
              <a:t>• Nighttime detection</a:t>
            </a:r>
          </a:p>
          <a:p>
            <a:pPr>
              <a:spcBef>
                <a:spcPts val="600"/>
              </a:spcBef>
              <a:defRPr sz="1400"/>
            </a:pPr>
          </a:p>
          <a:p>
            <a:pPr>
              <a:spcBef>
                <a:spcPts val="600"/>
              </a:spcBef>
              <a:defRPr sz="1400"/>
            </a:pPr>
            <a:r>
              <a:t>TECHNISCH:</a:t>
            </a:r>
          </a:p>
          <a:p>
            <a:pPr>
              <a:spcBef>
                <a:spcPts val="600"/>
              </a:spcBef>
              <a:defRPr sz="1400"/>
            </a:pPr>
            <a:r>
              <a:t>• Battery life vs computational load</a:t>
            </a:r>
          </a:p>
          <a:p>
            <a:pPr>
              <a:spcBef>
                <a:spcPts val="600"/>
              </a:spcBef>
              <a:defRPr sz="1400"/>
            </a:pPr>
            <a:r>
              <a:t>• 5G/6G integration</a:t>
            </a:r>
          </a:p>
          <a:p>
            <a:pPr>
              <a:spcBef>
                <a:spcPts val="600"/>
              </a:spcBef>
              <a:defRPr sz="1400"/>
            </a:pPr>
            <a:r>
              <a:t>• Privacy-preserving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TOEPASSING:</a:t>
            </a:r>
          </a:p>
          <a:p>
            <a:pPr>
              <a:spcBef>
                <a:spcPts val="600"/>
              </a:spcBef>
              <a:defRPr sz="1400"/>
            </a:pPr>
            <a:r>
              <a:t>• Long-term deployment studies</a:t>
            </a:r>
          </a:p>
          <a:p>
            <a:pPr>
              <a:spcBef>
                <a:spcPts val="600"/>
              </a:spcBef>
              <a:defRPr sz="1400"/>
            </a:pPr>
            <a:r>
              <a:t>• Multi-modal traffic analysis</a:t>
            </a:r>
          </a:p>
          <a:p>
            <a:pPr>
              <a:spcBef>
                <a:spcPts val="600"/>
              </a:spcBef>
              <a:defRPr sz="1400"/>
            </a:pPr>
            <a:r>
              <a:t>• Incident detection &amp; response</a:t>
            </a:r>
          </a:p>
          <a:p>
            <a:pPr>
              <a:spcBef>
                <a:spcPts val="600"/>
              </a:spcBef>
              <a:defRPr sz="1400"/>
            </a:pPr>
          </a:p>
          <a:p>
            <a:pPr>
              <a:spcBef>
                <a:spcPts val="600"/>
              </a:spcBef>
              <a:defRPr sz="1400"/>
            </a:pPr>
            <a:r>
              <a:t>ECONOMISCH:</a:t>
            </a:r>
          </a:p>
          <a:p>
            <a:pPr>
              <a:spcBef>
                <a:spcPts val="600"/>
              </a:spcBef>
              <a:defRPr sz="1400"/>
            </a:pPr>
            <a:r>
              <a:t>• Total Cost of Ownership</a:t>
            </a:r>
          </a:p>
          <a:p>
            <a:pPr>
              <a:spcBef>
                <a:spcPts val="600"/>
              </a:spcBef>
              <a:defRPr sz="1400"/>
            </a:pPr>
            <a:r>
              <a:t>• Regulatory compliance costs</a:t>
            </a:r>
          </a:p>
          <a:p>
            <a:pPr>
              <a:spcBef>
                <a:spcPts val="600"/>
              </a:spcBef>
              <a:defRPr sz="1400"/>
            </a:pPr>
            <a:r>
              <a:t>• Maintenance &amp; operational costs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💡 MEEST VEELBELOVENDE RICHTINGEN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Research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Unified Multi-Task Framework</a:t>
            </a:r>
          </a:p>
          <a:p>
            <a:pPr>
              <a:defRPr sz="1800"/>
            </a:pPr>
            <a:r>
              <a:t>   → End-to-end learning voor alle taken simultaan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Edge AI Optimization</a:t>
            </a:r>
          </a:p>
          <a:p>
            <a:pPr>
              <a:defRPr sz="1800"/>
            </a:pPr>
            <a:r>
              <a:t>   → Hardware-software co-design voor optimal performance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Economic Viability Studies</a:t>
            </a:r>
          </a:p>
          <a:p>
            <a:pPr>
              <a:defRPr sz="1800"/>
            </a:pPr>
            <a:r>
              <a:t>   → Large-scale cost-benefit analyses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Privacy-Preserving Monitoring</a:t>
            </a:r>
          </a:p>
          <a:p>
            <a:pPr>
              <a:defRPr sz="1800"/>
            </a:pPr>
            <a:r>
              <a:t>   → On-device anonymization, federated learning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5. Autonomous Adaptive Monitoring</a:t>
            </a:r>
          </a:p>
          <a:p>
            <a:pPr>
              <a:defRPr sz="1800"/>
            </a:pPr>
            <a:r>
              <a:t>   → Event-driven intelligent monitoring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📈 TIJDLIJN VAN ONTWIKKELINGEN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Evolutie 2001-2026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2001-2010:</a:t>
            </a:r>
          </a:p>
          <a:p>
            <a:pPr>
              <a:defRPr sz="1800"/>
            </a:pPr>
            <a:r>
              <a:t>• Fundamentele traffic dynamics</a:t>
            </a:r>
          </a:p>
          <a:p>
            <a:pPr>
              <a:defRPr sz="1800"/>
            </a:pPr>
            <a:r>
              <a:t>• Eerste aerial monitoring experimenten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2016-2018:</a:t>
            </a:r>
          </a:p>
          <a:p>
            <a:pPr>
              <a:defRPr sz="1800"/>
            </a:pPr>
            <a:r>
              <a:t>• Opkomst deep learning (YOLO, Faster R-CNN)</a:t>
            </a:r>
          </a:p>
          <a:p>
            <a:pPr>
              <a:defRPr sz="1800"/>
            </a:pPr>
            <a:r>
              <a:t>• Eerste UAV-specific detection papers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2019-2021:</a:t>
            </a:r>
          </a:p>
          <a:p>
            <a:pPr>
              <a:defRPr sz="1800"/>
            </a:pPr>
            <a:r>
              <a:t>• Focus op real-time processing</a:t>
            </a:r>
          </a:p>
          <a:p>
            <a:pPr>
              <a:defRPr sz="1800"/>
            </a:pPr>
            <a:r>
              <a:t>• Edge computing toepassingen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2022-2024:</a:t>
            </a:r>
          </a:p>
          <a:p>
            <a:pPr>
              <a:defRPr sz="1800"/>
            </a:pPr>
            <a:r>
              <a:t>• Multi-task frameworks</a:t>
            </a:r>
          </a:p>
          <a:p>
            <a:pPr>
              <a:defRPr sz="1800"/>
            </a:pPr>
            <a:r>
              <a:t>• Attention mechanisms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2025-2026:</a:t>
            </a:r>
          </a:p>
          <a:p>
            <a:pPr>
              <a:defRPr sz="1800"/>
            </a:pPr>
            <a:r>
              <a:t>• Knowledge distillation</a:t>
            </a:r>
          </a:p>
          <a:p>
            <a:pPr>
              <a:defRPr sz="1800"/>
            </a:pPr>
            <a:r>
              <a:t>• Economic feasibility studies</a:t>
            </a:r>
          </a:p>
          <a:p>
            <a:pPr>
              <a:defRPr sz="1800"/>
            </a:pPr>
            <a:r>
              <a:t>• Unified intelligent systems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📚 TOP PAPERS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Must-Read Papers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Khan et al. (2026) - Unified Framework for Vehicle Detection</a:t>
            </a:r>
          </a:p>
          <a:p>
            <a:pPr>
              <a:defRPr sz="1800"/>
            </a:pPr>
            <a:r>
              <a:t>   → YOLOv10 + Knowledge Distillation + Cross-domain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Khanpour et al. (2025) - UAV-Based Intelligent Surveillance</a:t>
            </a:r>
          </a:p>
          <a:p>
            <a:pPr>
              <a:defRPr sz="1800"/>
            </a:pPr>
            <a:r>
              <a:t>   → Real-time detection, tracking, behavioral analysis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Alnusayri et al. (2026) - Traffic Vision</a:t>
            </a:r>
          </a:p>
          <a:p>
            <a:pPr>
              <a:defRPr sz="1800"/>
            </a:pPr>
            <a:r>
              <a:t>   → LSTM trajectory forecasting + pattern analysis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Breuer et al. (2020) - openDD Dataset</a:t>
            </a:r>
          </a:p>
          <a:p>
            <a:pPr>
              <a:defRPr sz="1800"/>
            </a:pPr>
            <a:r>
              <a:t>   → 84,774 trajectories, interaction patterns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Must-Read Papers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5. Jairus et al. (2025) - Economic Feasibility</a:t>
            </a:r>
          </a:p>
          <a:p>
            <a:pPr>
              <a:defRPr sz="1800"/>
            </a:pPr>
            <a:r>
              <a:t>   → 60-80% cost reduction, viability analysis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6. Peraza-Garzón et al. (2026) - YOLOv11 Parking</a:t>
            </a:r>
          </a:p>
          <a:p>
            <a:pPr>
              <a:defRPr sz="1800"/>
            </a:pPr>
            <a:r>
              <a:t>   → Latest YOLO for parking occupancy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7. Jiao &amp; Fei (2023) - Pedestrian Walking Speed</a:t>
            </a:r>
          </a:p>
          <a:p>
            <a:pPr>
              <a:defRPr sz="1800"/>
            </a:pPr>
            <a:r>
              <a:t>   → Street-scale behavior extraction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8. Gettman &amp; Head (2003) - Surrogate Safety Measures</a:t>
            </a:r>
          </a:p>
          <a:p>
            <a:pPr>
              <a:defRPr sz="1800"/>
            </a:pPr>
            <a:r>
              <a:t>   → Framework voor conflict detection (TTC, PET)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CONCLUSIES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Belangrijkste Bevindingen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METHODOLOGISCH:</a:t>
            </a:r>
          </a:p>
          <a:p>
            <a:pPr>
              <a:defRPr sz="1800"/>
            </a:pPr>
            <a:r>
              <a:t>• YOLOv8/v10 + knowledge distillation: state-of-the-art</a:t>
            </a:r>
          </a:p>
          <a:p>
            <a:pPr>
              <a:defRPr sz="1800"/>
            </a:pPr>
            <a:r>
              <a:t>• Multi-scale feature fusion essentieel voor kleine objecten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TECHNISCH:</a:t>
            </a:r>
          </a:p>
          <a:p>
            <a:pPr>
              <a:defRPr sz="1800"/>
            </a:pPr>
            <a:r>
              <a:t>• Real-time processing mogelijk (Jetson TX2, 4K @ 30fps)</a:t>
            </a:r>
          </a:p>
          <a:p>
            <a:pPr>
              <a:defRPr sz="1800"/>
            </a:pPr>
            <a:r>
              <a:t>• 3+ Hz minimaal voor automatische tracking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TOEPASSING:</a:t>
            </a:r>
          </a:p>
          <a:p>
            <a:pPr>
              <a:defRPr sz="1800"/>
            </a:pPr>
            <a:r>
              <a:t>• 95-100% detection rates haalbaar</a:t>
            </a:r>
          </a:p>
          <a:p>
            <a:pPr>
              <a:defRPr sz="1800"/>
            </a:pPr>
            <a:r>
              <a:t>• Optimale vlieghoogte: ~50m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ECONOMISCH:</a:t>
            </a:r>
          </a:p>
          <a:p>
            <a:pPr>
              <a:defRPr sz="1800"/>
            </a:pPr>
            <a:r>
              <a:t>• 60-80% kostenreductie mogelijk</a:t>
            </a:r>
          </a:p>
          <a:p>
            <a:pPr>
              <a:defRPr sz="1800"/>
            </a:pPr>
            <a:r>
              <a:t>• Viability bij 180 dagen/jaar: 81.6%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Aanbevelingen voor Toekomstig Onderzoek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METHODOLOGISCH:</a:t>
            </a:r>
          </a:p>
          <a:p>
            <a:pPr>
              <a:defRPr sz="1800"/>
            </a:pPr>
            <a:r>
              <a:t>• Benchmark datasets voor extreme conditions</a:t>
            </a:r>
          </a:p>
          <a:p>
            <a:pPr>
              <a:defRPr sz="1800"/>
            </a:pPr>
            <a:r>
              <a:t>• Domain adaptation technieken</a:t>
            </a:r>
          </a:p>
          <a:p>
            <a:pPr>
              <a:defRPr sz="1800"/>
            </a:pPr>
            <a:r>
              <a:t>• Self-supervised learning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TECHNISCH:</a:t>
            </a:r>
          </a:p>
          <a:p>
            <a:pPr>
              <a:defRPr sz="1800"/>
            </a:pPr>
            <a:r>
              <a:t>• Hardware-algorithm co-optimization</a:t>
            </a:r>
          </a:p>
          <a:p>
            <a:pPr>
              <a:defRPr sz="1800"/>
            </a:pPr>
            <a:r>
              <a:t>• Energy-efficient inference strategies</a:t>
            </a:r>
          </a:p>
          <a:p>
            <a:pPr>
              <a:defRPr sz="1800"/>
            </a:pPr>
            <a:r>
              <a:t>• 5G/6G integration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TOEPASSING:</a:t>
            </a:r>
          </a:p>
          <a:p>
            <a:pPr>
              <a:defRPr sz="1800"/>
            </a:pPr>
            <a:r>
              <a:t>• Longitudinal studies (&gt;6 maanden)</a:t>
            </a:r>
          </a:p>
          <a:p>
            <a:pPr>
              <a:defRPr sz="1800"/>
            </a:pPr>
            <a:r>
              <a:t>• Multi-city comparative analyses</a:t>
            </a:r>
          </a:p>
          <a:p>
            <a:pPr>
              <a:defRPr sz="1800"/>
            </a:pPr>
            <a:r>
              <a:t>• Integration met existing systems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Bronnen &amp; Referenties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Analyse gebaseerd op:</a:t>
            </a:r>
          </a:p>
          <a:p>
            <a:pPr>
              <a:defRPr sz="1800"/>
            </a:pPr>
            <a:r>
              <a:t>• 569 papers uit Bilal Drones Data References</a:t>
            </a:r>
          </a:p>
          <a:p>
            <a:pPr>
              <a:defRPr sz="1800"/>
            </a:pPr>
            <a:r>
              <a:t>• Tijdsperiode: 2001-2026</a:t>
            </a:r>
          </a:p>
          <a:p>
            <a:pPr>
              <a:defRPr sz="1800"/>
            </a:pPr>
            <a:r>
              <a:t>• Hoofdcategorieën:</a:t>
            </a:r>
          </a:p>
          <a:p>
            <a:pPr>
              <a:defRPr sz="1800"/>
            </a:pPr>
            <a:r>
              <a:t>  - Detection &amp; Tracking (78 papers)</a:t>
            </a:r>
          </a:p>
          <a:p>
            <a:pPr>
              <a:defRPr sz="1800"/>
            </a:pPr>
            <a:r>
              <a:t>  - Pedestrian Analysis (124 papers)</a:t>
            </a:r>
          </a:p>
          <a:p>
            <a:pPr>
              <a:defRPr sz="1800"/>
            </a:pPr>
            <a:r>
              <a:t>  - Traffic Flow (46 papers)</a:t>
            </a:r>
          </a:p>
          <a:p>
            <a:pPr>
              <a:defRPr sz="1800"/>
            </a:pPr>
            <a:r>
              <a:t>  - Speed Estimation (69 papers)</a:t>
            </a:r>
          </a:p>
          <a:p>
            <a:pPr>
              <a:defRPr sz="1800"/>
            </a:pPr>
            <a:r>
              <a:t>  - Deep Learning (35 papers)</a:t>
            </a:r>
          </a:p>
          <a:p>
            <a:pPr>
              <a:defRPr sz="1800"/>
            </a:pPr>
            <a:r>
              <a:t>  - Real-time Processing (30 papers)</a:t>
            </a:r>
          </a:p>
          <a:p>
            <a:pPr>
              <a:defRPr sz="1800"/>
            </a:pPr>
            <a:r>
              <a:t>  - Datasets (32 papers)</a:t>
            </a:r>
          </a:p>
          <a:p>
            <a:pPr>
              <a:defRPr sz="1800"/>
            </a:pPr>
            <a:r>
              <a:t>  - Parking Management (10 papers)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Vragen?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Davy Janssens</a:t>
            </a:r>
          </a:p>
          <a:p>
            <a:r>
              <a:t>davy.janssens@uhasselt.be</a:t>
            </a:r>
          </a:p>
          <a:p/>
          <a:p>
            <a:r>
              <a:t>GitHub: github.com/davyjanssens-dotcom/dronespapers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